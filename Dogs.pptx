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3E5B4-1A6F-B9CC-B5A3-D70ACFA26C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66AEF5-D62A-95F1-A461-70336031E2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7D9FE-BC0E-1886-AD18-3075D654E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1C52-E1BA-4422-B9A3-9E1BB03F4AFF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F1330-E989-B0EF-F8E4-E68799D6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68FE4-F204-242E-BD28-DCAD57494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07D-7CEF-4EF9-B3CE-D02477EC6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730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E471D-6F74-C683-644F-92C94F479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BC8E4-2B11-CA62-3A9F-3477A1F74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532C2-182A-00EA-EBBE-C7252CF92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1C52-E1BA-4422-B9A3-9E1BB03F4AFF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FCFE2-2F9E-88DD-302D-C43A3A58A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F4421-29CA-5A7A-6C87-E0D983D5B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07D-7CEF-4EF9-B3CE-D02477EC6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774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EF72A-0117-E2C6-55A9-BD09AE98A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92E49-C0B3-473E-8BFD-7AFC05EA6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196FB-3166-DE24-AC97-E47856914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1C52-E1BA-4422-B9A3-9E1BB03F4AFF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EFD09-2BFE-C2FE-EC2D-7EC5093FB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7BBD1-64DC-7E40-7143-F0FE44756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07D-7CEF-4EF9-B3CE-D02477EC6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330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F8752-8B6C-5190-9A43-D891F6645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F7029-2F20-22D4-9246-3D8A04A6BC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4F6C44-FE21-4971-5980-2B75F23F5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EF268-FCF9-7288-F4ED-083E319DF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1C52-E1BA-4422-B9A3-9E1BB03F4AFF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131387-ADB5-F689-45DF-8026F5948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B701BA-1DC4-91CD-C76D-D14F0486F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07D-7CEF-4EF9-B3CE-D02477EC6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997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0677E-60D8-2CC3-2362-357E5201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8D81C-7C69-2BA6-C47B-51770FADE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A13BA7-D88C-7A34-774C-0F4D64EB0B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B4038A-0852-727B-B1D8-21DFE3155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4FEFD1-44D8-CC99-EC69-2FC77DA554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C89AA0-6459-91F8-8AB7-229637DDD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1C52-E1BA-4422-B9A3-9E1BB03F4AFF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B10FC2-A3D6-8748-3BC3-7242B00DA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7BFC9C-1389-76CD-B281-B35F02BA1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07D-7CEF-4EF9-B3CE-D02477EC6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212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B879D-256B-6ACA-74B5-143186205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5D37AD-B8FE-E3D2-618C-FC692F6F5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1C52-E1BA-4422-B9A3-9E1BB03F4AFF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F5C486-A9DC-1C64-14EF-47FB2845D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88987-DD4C-FD49-C3CF-9565CA3A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07D-7CEF-4EF9-B3CE-D02477EC6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363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43AD99-990C-B629-A6C2-200C37679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1C52-E1BA-4422-B9A3-9E1BB03F4AFF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07C1E8-4ACD-183F-1E9E-4FF84B87F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D3C7B-9D8A-23E8-A8A4-4AAC1983F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07D-7CEF-4EF9-B3CE-D02477EC6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23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57A22-011B-E29F-7F11-F159FDE4E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A17CD-69C8-3DE7-D0E7-7D81BBA27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194717-47AB-8F49-5E6C-91B762131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5364B-66EF-875B-38E3-E745329A1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1C52-E1BA-4422-B9A3-9E1BB03F4AFF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1953A-9C0B-FB60-6E97-E0A1E417F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83A8F-C79B-5595-9AA1-8DF6A35A9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07D-7CEF-4EF9-B3CE-D02477EC6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381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9981B-2BEA-324E-F57B-4D00F8B84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D3A69A-8DEC-1DE5-1B16-4AD6BB040E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8B614-0740-6E25-1D18-D1F9AA9BB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3AC7B7-FAC8-66E3-BC51-DCF9657FC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1C52-E1BA-4422-B9A3-9E1BB03F4AFF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85349-207C-142F-9871-534D1F67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4C56E-C931-1F03-45F5-2C6F477FC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07D-7CEF-4EF9-B3CE-D02477EC6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156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DB99D-8E56-63D4-E5FF-36297BAC0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96FA58-B8B9-663D-6F09-84DCF344A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16858-BDC3-147F-7177-AAF6C7595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1C52-E1BA-4422-B9A3-9E1BB03F4AFF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650A3-DCCB-77F1-7BF9-B05CF0953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0D787-166D-273B-ABB4-DEA1EEE2B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07D-7CEF-4EF9-B3CE-D02477EC6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024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2C91AE-ED35-DCD4-4987-8B8C1C09F6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6E6EF2-4700-6352-2CF1-B1527F8CDF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F695D-E468-EB77-8EAE-E703FA14F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1C52-E1BA-4422-B9A3-9E1BB03F4AFF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A75E0-44E7-5095-3BDD-24DEE6AAC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83B6C-E423-1DF0-79F2-88C76BB78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C07D-7CEF-4EF9-B3CE-D02477EC6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961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8C690A-3A0A-958E-4ECF-4D9A83018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0748FA-2E86-52F4-29D1-E8235F683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D4EEC-7F0D-2ECB-A56C-95B0766952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071C52-E1BA-4422-B9A3-9E1BB03F4AFF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427BE-ADFB-F321-625B-BD0C151AF4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9F6F2-623A-6AF7-D78F-D5B8473EF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BC07D-7CEF-4EF9-B3CE-D02477EC6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952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E96E259-06D7-4381-7902-ABD38FFCFB36}"/>
              </a:ext>
            </a:extLst>
          </p:cNvPr>
          <p:cNvSpPr/>
          <p:nvPr/>
        </p:nvSpPr>
        <p:spPr>
          <a:xfrm>
            <a:off x="8890000" y="-1524000"/>
            <a:ext cx="4826000" cy="4826000"/>
          </a:xfrm>
          <a:prstGeom prst="ellipse">
            <a:avLst/>
          </a:prstGeom>
          <a:solidFill>
            <a:srgbClr val="97BC62">
              <a:alpha val="4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371363-3989-26AC-B174-E650BAE7AFCE}"/>
              </a:ext>
            </a:extLst>
          </p:cNvPr>
          <p:cNvSpPr txBox="1"/>
          <p:nvPr/>
        </p:nvSpPr>
        <p:spPr>
          <a:xfrm>
            <a:off x="762000" y="2286000"/>
            <a:ext cx="10160000" cy="12311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8000" b="1">
                <a:solidFill>
                  <a:srgbClr val="FFFFFF"/>
                </a:solidFill>
                <a:latin typeface="Calibri" panose="020F0502020204030204" pitchFamily="34" charset="0"/>
              </a:rPr>
              <a:t>DOGS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415236-4A73-54F4-3D3A-BA0514F9632D}"/>
              </a:ext>
            </a:extLst>
          </p:cNvPr>
          <p:cNvSpPr txBox="1"/>
          <p:nvPr/>
        </p:nvSpPr>
        <p:spPr>
          <a:xfrm>
            <a:off x="762000" y="3429000"/>
            <a:ext cx="1016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2800">
                <a:solidFill>
                  <a:srgbClr val="97BC62"/>
                </a:solidFill>
                <a:latin typeface="Calibri" panose="020F0502020204030204" pitchFamily="34" charset="0"/>
              </a:rPr>
              <a:t>Humanity's Best Friend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02C553-F094-62B9-1CF3-D133AD4314CA}"/>
              </a:ext>
            </a:extLst>
          </p:cNvPr>
          <p:cNvSpPr/>
          <p:nvPr/>
        </p:nvSpPr>
        <p:spPr>
          <a:xfrm>
            <a:off x="762000" y="4445000"/>
            <a:ext cx="1016000" cy="50800"/>
          </a:xfrm>
          <a:prstGeom prst="rect">
            <a:avLst/>
          </a:prstGeom>
          <a:solidFill>
            <a:srgbClr val="97BC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AE6EDC-CB77-B18C-B670-07DC63927AB4}"/>
              </a:ext>
            </a:extLst>
          </p:cNvPr>
          <p:cNvSpPr txBox="1"/>
          <p:nvPr/>
        </p:nvSpPr>
        <p:spPr>
          <a:xfrm>
            <a:off x="762000" y="4699000"/>
            <a:ext cx="1016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F5F5F5"/>
                </a:solidFill>
                <a:latin typeface="Calibri" panose="020F0502020204030204" pitchFamily="34" charset="0"/>
              </a:rPr>
              <a:t>An overview of breeds, behavior, and care</a:t>
            </a:r>
            <a:endParaRPr lang="en-IN" sz="1600">
              <a:solidFill>
                <a:srgbClr val="F5F5F5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234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25B6D6-6493-1283-E9E5-83D4DC0801DA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2C5F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689585-6E68-778F-894C-635452881852}"/>
              </a:ext>
            </a:extLst>
          </p:cNvPr>
          <p:cNvSpPr txBox="1"/>
          <p:nvPr/>
        </p:nvSpPr>
        <p:spPr>
          <a:xfrm>
            <a:off x="762000" y="228600"/>
            <a:ext cx="1016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2800" b="1">
                <a:solidFill>
                  <a:srgbClr val="FFFFFF"/>
                </a:solidFill>
                <a:latin typeface="Calibri" panose="020F0502020204030204" pitchFamily="34" charset="0"/>
              </a:rPr>
              <a:t>What Makes Dogs Special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04F85B-E4D3-2A45-1716-6C14F58B7D90}"/>
              </a:ext>
            </a:extLst>
          </p:cNvPr>
          <p:cNvSpPr/>
          <p:nvPr/>
        </p:nvSpPr>
        <p:spPr>
          <a:xfrm>
            <a:off x="762000" y="1397000"/>
            <a:ext cx="5080000" cy="2159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886B7D-B786-935F-9188-D36C2FC47D69}"/>
              </a:ext>
            </a:extLst>
          </p:cNvPr>
          <p:cNvSpPr/>
          <p:nvPr/>
        </p:nvSpPr>
        <p:spPr>
          <a:xfrm>
            <a:off x="762000" y="1397000"/>
            <a:ext cx="76200" cy="2159000"/>
          </a:xfrm>
          <a:prstGeom prst="rect">
            <a:avLst/>
          </a:prstGeom>
          <a:solidFill>
            <a:srgbClr val="97BC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73B7B-AC36-324C-602D-650823F550EB}"/>
              </a:ext>
            </a:extLst>
          </p:cNvPr>
          <p:cNvSpPr txBox="1"/>
          <p:nvPr/>
        </p:nvSpPr>
        <p:spPr>
          <a:xfrm>
            <a:off x="1066800" y="1676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b="1">
                <a:solidFill>
                  <a:srgbClr val="2C5F2D"/>
                </a:solidFill>
                <a:latin typeface="Calibri" panose="020F0502020204030204" pitchFamily="34" charset="0"/>
              </a:rPr>
              <a:t>15,000+ Years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F25DBF-444B-5735-A455-64F195A51EFC}"/>
              </a:ext>
            </a:extLst>
          </p:cNvPr>
          <p:cNvSpPr txBox="1"/>
          <p:nvPr/>
        </p:nvSpPr>
        <p:spPr>
          <a:xfrm>
            <a:off x="1066800" y="2209800"/>
            <a:ext cx="4572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2B2B2B"/>
                </a:solidFill>
                <a:latin typeface="Calibri" panose="020F0502020204030204" pitchFamily="34" charset="0"/>
              </a:rPr>
              <a:t>Of co-evolution alongside humans, the longest of any domesticated animal.</a:t>
            </a:r>
            <a:endParaRPr lang="en-IN" sz="1400">
              <a:solidFill>
                <a:srgbClr val="2B2B2B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F03CAD-B0FA-A7EF-D392-C5E522334CF3}"/>
              </a:ext>
            </a:extLst>
          </p:cNvPr>
          <p:cNvSpPr/>
          <p:nvPr/>
        </p:nvSpPr>
        <p:spPr>
          <a:xfrm>
            <a:off x="6223000" y="1397000"/>
            <a:ext cx="5080000" cy="2159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FE5FCD-1FF2-70F2-8BE1-65D2F5321FB4}"/>
              </a:ext>
            </a:extLst>
          </p:cNvPr>
          <p:cNvSpPr/>
          <p:nvPr/>
        </p:nvSpPr>
        <p:spPr>
          <a:xfrm>
            <a:off x="6223000" y="1397000"/>
            <a:ext cx="76200" cy="2159000"/>
          </a:xfrm>
          <a:prstGeom prst="rect">
            <a:avLst/>
          </a:prstGeom>
          <a:solidFill>
            <a:srgbClr val="97BC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CABA95-EF2E-3BF9-77FF-8A659818E725}"/>
              </a:ext>
            </a:extLst>
          </p:cNvPr>
          <p:cNvSpPr txBox="1"/>
          <p:nvPr/>
        </p:nvSpPr>
        <p:spPr>
          <a:xfrm>
            <a:off x="6527800" y="1676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b="1">
                <a:solidFill>
                  <a:srgbClr val="2C5F2D"/>
                </a:solidFill>
                <a:latin typeface="Calibri" panose="020F0502020204030204" pitchFamily="34" charset="0"/>
              </a:rPr>
              <a:t>200+ Million Scent Receptors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089A03-7062-0CC9-9597-ECA3640FCDA2}"/>
              </a:ext>
            </a:extLst>
          </p:cNvPr>
          <p:cNvSpPr txBox="1"/>
          <p:nvPr/>
        </p:nvSpPr>
        <p:spPr>
          <a:xfrm>
            <a:off x="6527800" y="2209800"/>
            <a:ext cx="4572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2B2B2B"/>
                </a:solidFill>
                <a:latin typeface="Calibri" panose="020F0502020204030204" pitchFamily="34" charset="0"/>
              </a:rPr>
              <a:t>Compared to roughly 5 million in humans - smell is their primary sense.</a:t>
            </a:r>
            <a:endParaRPr lang="en-IN" sz="1400">
              <a:solidFill>
                <a:srgbClr val="2B2B2B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D9AF8A-4DFD-C3A3-696F-2643E8EDBDD2}"/>
              </a:ext>
            </a:extLst>
          </p:cNvPr>
          <p:cNvSpPr/>
          <p:nvPr/>
        </p:nvSpPr>
        <p:spPr>
          <a:xfrm>
            <a:off x="762000" y="3937000"/>
            <a:ext cx="5080000" cy="2159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E49B92-64D8-D26C-F3C0-06E62479BAF9}"/>
              </a:ext>
            </a:extLst>
          </p:cNvPr>
          <p:cNvSpPr/>
          <p:nvPr/>
        </p:nvSpPr>
        <p:spPr>
          <a:xfrm>
            <a:off x="762000" y="3937000"/>
            <a:ext cx="76200" cy="2159000"/>
          </a:xfrm>
          <a:prstGeom prst="rect">
            <a:avLst/>
          </a:prstGeom>
          <a:solidFill>
            <a:srgbClr val="97BC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F3DB9C-49C4-F98C-3A4A-35A8B9C85253}"/>
              </a:ext>
            </a:extLst>
          </p:cNvPr>
          <p:cNvSpPr txBox="1"/>
          <p:nvPr/>
        </p:nvSpPr>
        <p:spPr>
          <a:xfrm>
            <a:off x="1066800" y="4216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b="1">
                <a:solidFill>
                  <a:srgbClr val="2C5F2D"/>
                </a:solidFill>
                <a:latin typeface="Calibri" panose="020F0502020204030204" pitchFamily="34" charset="0"/>
              </a:rPr>
              <a:t>350+ Recognized Breeds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F1C0BB-7E75-2D38-ED85-46447F125AD4}"/>
              </a:ext>
            </a:extLst>
          </p:cNvPr>
          <p:cNvSpPr txBox="1"/>
          <p:nvPr/>
        </p:nvSpPr>
        <p:spPr>
          <a:xfrm>
            <a:off x="1066800" y="4749800"/>
            <a:ext cx="457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2B2B2B"/>
                </a:solidFill>
                <a:latin typeface="Calibri" panose="020F0502020204030204" pitchFamily="34" charset="0"/>
              </a:rPr>
              <a:t>Ranging from the 4 lb Chihuahua to the 200 lb English Mastiff.</a:t>
            </a:r>
            <a:endParaRPr lang="en-IN" sz="1400">
              <a:solidFill>
                <a:srgbClr val="2B2B2B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B2830B-2620-DCCE-EDA4-9B7BC3D04F53}"/>
              </a:ext>
            </a:extLst>
          </p:cNvPr>
          <p:cNvSpPr/>
          <p:nvPr/>
        </p:nvSpPr>
        <p:spPr>
          <a:xfrm>
            <a:off x="6223000" y="3937000"/>
            <a:ext cx="5080000" cy="2159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CD25A5-EC84-BAB0-4D7D-6B11002B5618}"/>
              </a:ext>
            </a:extLst>
          </p:cNvPr>
          <p:cNvSpPr/>
          <p:nvPr/>
        </p:nvSpPr>
        <p:spPr>
          <a:xfrm>
            <a:off x="6223000" y="3937000"/>
            <a:ext cx="76200" cy="2159000"/>
          </a:xfrm>
          <a:prstGeom prst="rect">
            <a:avLst/>
          </a:prstGeom>
          <a:solidFill>
            <a:srgbClr val="97BC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7DA2B0-1713-8588-CF30-ED2A2CE616EA}"/>
              </a:ext>
            </a:extLst>
          </p:cNvPr>
          <p:cNvSpPr txBox="1"/>
          <p:nvPr/>
        </p:nvSpPr>
        <p:spPr>
          <a:xfrm>
            <a:off x="6527800" y="4216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b="1">
                <a:solidFill>
                  <a:srgbClr val="2C5F2D"/>
                </a:solidFill>
                <a:latin typeface="Calibri" panose="020F0502020204030204" pitchFamily="34" charset="0"/>
              </a:rPr>
              <a:t>Social Intelligence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8280B0-8892-2FC6-4E6F-B38F1F35B873}"/>
              </a:ext>
            </a:extLst>
          </p:cNvPr>
          <p:cNvSpPr txBox="1"/>
          <p:nvPr/>
        </p:nvSpPr>
        <p:spPr>
          <a:xfrm>
            <a:off x="6527800" y="4749800"/>
            <a:ext cx="4572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2B2B2B"/>
                </a:solidFill>
                <a:latin typeface="Calibri" panose="020F0502020204030204" pitchFamily="34" charset="0"/>
              </a:rPr>
              <a:t>Dogs can read human gestures, expressions, and even emotions.</a:t>
            </a:r>
            <a:endParaRPr lang="en-IN" sz="1400">
              <a:solidFill>
                <a:srgbClr val="2B2B2B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73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AFA106-59AC-A2EA-4B4F-148210F7788A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2C5F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C36160-C1AD-F76C-A488-C7411B945CA0}"/>
              </a:ext>
            </a:extLst>
          </p:cNvPr>
          <p:cNvSpPr txBox="1"/>
          <p:nvPr/>
        </p:nvSpPr>
        <p:spPr>
          <a:xfrm>
            <a:off x="762000" y="228600"/>
            <a:ext cx="1016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2800" b="1">
                <a:solidFill>
                  <a:srgbClr val="FFFFFF"/>
                </a:solidFill>
                <a:latin typeface="Calibri" panose="020F0502020204030204" pitchFamily="34" charset="0"/>
              </a:rPr>
              <a:t>Popular Breeds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413B1A-A0E8-F1CB-E013-B54BC32E29A6}"/>
              </a:ext>
            </a:extLst>
          </p:cNvPr>
          <p:cNvSpPr/>
          <p:nvPr/>
        </p:nvSpPr>
        <p:spPr>
          <a:xfrm>
            <a:off x="762000" y="1270000"/>
            <a:ext cx="10668000" cy="812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AB72CE-E77D-8CAD-6CD2-E6FCDBCEF854}"/>
              </a:ext>
            </a:extLst>
          </p:cNvPr>
          <p:cNvSpPr/>
          <p:nvPr/>
        </p:nvSpPr>
        <p:spPr>
          <a:xfrm>
            <a:off x="762000" y="1270000"/>
            <a:ext cx="101600" cy="812800"/>
          </a:xfrm>
          <a:prstGeom prst="rect">
            <a:avLst/>
          </a:prstGeom>
          <a:solidFill>
            <a:srgbClr val="97BC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4D64DB1-1643-6F1A-41B3-C00D9B88F316}"/>
              </a:ext>
            </a:extLst>
          </p:cNvPr>
          <p:cNvSpPr/>
          <p:nvPr/>
        </p:nvSpPr>
        <p:spPr>
          <a:xfrm>
            <a:off x="1092200" y="1447800"/>
            <a:ext cx="457200" cy="457200"/>
          </a:xfrm>
          <a:prstGeom prst="ellipse">
            <a:avLst/>
          </a:prstGeom>
          <a:solidFill>
            <a:srgbClr val="2C5F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E0D0C6-86B7-6C6F-2CEC-6CF8DC782D7F}"/>
              </a:ext>
            </a:extLst>
          </p:cNvPr>
          <p:cNvSpPr txBox="1"/>
          <p:nvPr/>
        </p:nvSpPr>
        <p:spPr>
          <a:xfrm>
            <a:off x="1778000" y="13970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b="1">
                <a:solidFill>
                  <a:srgbClr val="2C5F2D"/>
                </a:solidFill>
                <a:latin typeface="Calibri" panose="020F0502020204030204" pitchFamily="34" charset="0"/>
              </a:rPr>
              <a:t>Labrador Retriever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2F67A4-6E79-C2AD-5CA4-1700521722B2}"/>
              </a:ext>
            </a:extLst>
          </p:cNvPr>
          <p:cNvSpPr txBox="1"/>
          <p:nvPr/>
        </p:nvSpPr>
        <p:spPr>
          <a:xfrm>
            <a:off x="1778000" y="1727200"/>
            <a:ext cx="939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5A5A5A"/>
                </a:solidFill>
                <a:latin typeface="Calibri" panose="020F0502020204030204" pitchFamily="34" charset="0"/>
              </a:rPr>
              <a:t>Friendly, active, outgoing - top family dog worldwide.</a:t>
            </a:r>
            <a:endParaRPr lang="en-IN" sz="130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4237A0-47F3-2571-7201-033E973B5B0D}"/>
              </a:ext>
            </a:extLst>
          </p:cNvPr>
          <p:cNvSpPr/>
          <p:nvPr/>
        </p:nvSpPr>
        <p:spPr>
          <a:xfrm>
            <a:off x="762000" y="2260600"/>
            <a:ext cx="10668000" cy="812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E39A2D-478B-34F4-6FD7-450270DAF87C}"/>
              </a:ext>
            </a:extLst>
          </p:cNvPr>
          <p:cNvSpPr/>
          <p:nvPr/>
        </p:nvSpPr>
        <p:spPr>
          <a:xfrm>
            <a:off x="762000" y="2260600"/>
            <a:ext cx="101600" cy="812800"/>
          </a:xfrm>
          <a:prstGeom prst="rect">
            <a:avLst/>
          </a:prstGeom>
          <a:solidFill>
            <a:srgbClr val="97BC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6104DE2-DB42-C1DF-D680-724A83D0ADE6}"/>
              </a:ext>
            </a:extLst>
          </p:cNvPr>
          <p:cNvSpPr/>
          <p:nvPr/>
        </p:nvSpPr>
        <p:spPr>
          <a:xfrm>
            <a:off x="1092200" y="2438400"/>
            <a:ext cx="457200" cy="457200"/>
          </a:xfrm>
          <a:prstGeom prst="ellipse">
            <a:avLst/>
          </a:prstGeom>
          <a:solidFill>
            <a:srgbClr val="2C5F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4A113C-3D9D-20E5-2EFE-DCEE0F7445D0}"/>
              </a:ext>
            </a:extLst>
          </p:cNvPr>
          <p:cNvSpPr txBox="1"/>
          <p:nvPr/>
        </p:nvSpPr>
        <p:spPr>
          <a:xfrm>
            <a:off x="1778000" y="23876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b="1">
                <a:solidFill>
                  <a:srgbClr val="2C5F2D"/>
                </a:solidFill>
                <a:latin typeface="Calibri" panose="020F0502020204030204" pitchFamily="34" charset="0"/>
              </a:rPr>
              <a:t>German Shepherd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94ABA5-EABB-012A-4CF6-DB91222AEB42}"/>
              </a:ext>
            </a:extLst>
          </p:cNvPr>
          <p:cNvSpPr txBox="1"/>
          <p:nvPr/>
        </p:nvSpPr>
        <p:spPr>
          <a:xfrm>
            <a:off x="1778000" y="2717800"/>
            <a:ext cx="939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5A5A5A"/>
                </a:solidFill>
                <a:latin typeface="Calibri" panose="020F0502020204030204" pitchFamily="34" charset="0"/>
              </a:rPr>
              <a:t>Confident, courageous, smart - elite working dog.</a:t>
            </a:r>
            <a:endParaRPr lang="en-IN" sz="130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801FDC-7D85-9138-5CD0-15814085AF77}"/>
              </a:ext>
            </a:extLst>
          </p:cNvPr>
          <p:cNvSpPr/>
          <p:nvPr/>
        </p:nvSpPr>
        <p:spPr>
          <a:xfrm>
            <a:off x="762000" y="3251200"/>
            <a:ext cx="10668000" cy="812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A2064F-C2A7-5B2B-968F-FDF58F6A0F52}"/>
              </a:ext>
            </a:extLst>
          </p:cNvPr>
          <p:cNvSpPr/>
          <p:nvPr/>
        </p:nvSpPr>
        <p:spPr>
          <a:xfrm>
            <a:off x="762000" y="3251200"/>
            <a:ext cx="101600" cy="812800"/>
          </a:xfrm>
          <a:prstGeom prst="rect">
            <a:avLst/>
          </a:prstGeom>
          <a:solidFill>
            <a:srgbClr val="97BC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3B1C004-3D4C-0A23-DAB9-E36E71A53E64}"/>
              </a:ext>
            </a:extLst>
          </p:cNvPr>
          <p:cNvSpPr/>
          <p:nvPr/>
        </p:nvSpPr>
        <p:spPr>
          <a:xfrm>
            <a:off x="1092200" y="3429000"/>
            <a:ext cx="457200" cy="457200"/>
          </a:xfrm>
          <a:prstGeom prst="ellipse">
            <a:avLst/>
          </a:prstGeom>
          <a:solidFill>
            <a:srgbClr val="2C5F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4EB47F-85F7-FBA7-AF4F-8E94D1CC7407}"/>
              </a:ext>
            </a:extLst>
          </p:cNvPr>
          <p:cNvSpPr txBox="1"/>
          <p:nvPr/>
        </p:nvSpPr>
        <p:spPr>
          <a:xfrm>
            <a:off x="1778000" y="3378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b="1">
                <a:solidFill>
                  <a:srgbClr val="2C5F2D"/>
                </a:solidFill>
                <a:latin typeface="Calibri" panose="020F0502020204030204" pitchFamily="34" charset="0"/>
              </a:rPr>
              <a:t>Golden Retriever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096AC7-8902-0610-BFC2-A9D7AED4DA89}"/>
              </a:ext>
            </a:extLst>
          </p:cNvPr>
          <p:cNvSpPr txBox="1"/>
          <p:nvPr/>
        </p:nvSpPr>
        <p:spPr>
          <a:xfrm>
            <a:off x="1778000" y="3708400"/>
            <a:ext cx="939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5A5A5A"/>
                </a:solidFill>
                <a:latin typeface="Calibri" panose="020F0502020204030204" pitchFamily="34" charset="0"/>
              </a:rPr>
              <a:t>Intelligent, devoted, gentle - excellent with children.</a:t>
            </a:r>
            <a:endParaRPr lang="en-IN" sz="130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64E3F1-FDC3-2069-103C-3F716FD3AD15}"/>
              </a:ext>
            </a:extLst>
          </p:cNvPr>
          <p:cNvSpPr/>
          <p:nvPr/>
        </p:nvSpPr>
        <p:spPr>
          <a:xfrm>
            <a:off x="762000" y="4241800"/>
            <a:ext cx="10668000" cy="812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A699A4-C3DB-B4C2-C01F-601C8AA3F256}"/>
              </a:ext>
            </a:extLst>
          </p:cNvPr>
          <p:cNvSpPr/>
          <p:nvPr/>
        </p:nvSpPr>
        <p:spPr>
          <a:xfrm>
            <a:off x="762000" y="4241800"/>
            <a:ext cx="101600" cy="812800"/>
          </a:xfrm>
          <a:prstGeom prst="rect">
            <a:avLst/>
          </a:prstGeom>
          <a:solidFill>
            <a:srgbClr val="97BC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3675EF2-5E5A-70E0-4E25-24CC1C8814FF}"/>
              </a:ext>
            </a:extLst>
          </p:cNvPr>
          <p:cNvSpPr/>
          <p:nvPr/>
        </p:nvSpPr>
        <p:spPr>
          <a:xfrm>
            <a:off x="1092200" y="4419600"/>
            <a:ext cx="457200" cy="457200"/>
          </a:xfrm>
          <a:prstGeom prst="ellipse">
            <a:avLst/>
          </a:prstGeom>
          <a:solidFill>
            <a:srgbClr val="2C5F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19A007-4291-9A38-AB25-B5424E215A4E}"/>
              </a:ext>
            </a:extLst>
          </p:cNvPr>
          <p:cNvSpPr txBox="1"/>
          <p:nvPr/>
        </p:nvSpPr>
        <p:spPr>
          <a:xfrm>
            <a:off x="1778000" y="4368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b="1">
                <a:solidFill>
                  <a:srgbClr val="2C5F2D"/>
                </a:solidFill>
                <a:latin typeface="Calibri" panose="020F0502020204030204" pitchFamily="34" charset="0"/>
              </a:rPr>
              <a:t>French Bulldog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014AEA-CE5B-4731-F6A9-C93082794223}"/>
              </a:ext>
            </a:extLst>
          </p:cNvPr>
          <p:cNvSpPr txBox="1"/>
          <p:nvPr/>
        </p:nvSpPr>
        <p:spPr>
          <a:xfrm>
            <a:off x="1778000" y="4699000"/>
            <a:ext cx="939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5A5A5A"/>
                </a:solidFill>
                <a:latin typeface="Calibri" panose="020F0502020204030204" pitchFamily="34" charset="0"/>
              </a:rPr>
              <a:t>Adaptable, playful, smart - thrives in apartments.</a:t>
            </a:r>
            <a:endParaRPr lang="en-IN" sz="130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BC54F0-BA4A-93DC-9F09-174F7F84BA5C}"/>
              </a:ext>
            </a:extLst>
          </p:cNvPr>
          <p:cNvSpPr/>
          <p:nvPr/>
        </p:nvSpPr>
        <p:spPr>
          <a:xfrm>
            <a:off x="762000" y="5232400"/>
            <a:ext cx="10668000" cy="812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36B470-4F11-2E07-9A7B-004D97431946}"/>
              </a:ext>
            </a:extLst>
          </p:cNvPr>
          <p:cNvSpPr/>
          <p:nvPr/>
        </p:nvSpPr>
        <p:spPr>
          <a:xfrm>
            <a:off x="762000" y="5232400"/>
            <a:ext cx="101600" cy="812800"/>
          </a:xfrm>
          <a:prstGeom prst="rect">
            <a:avLst/>
          </a:prstGeom>
          <a:solidFill>
            <a:srgbClr val="97BC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39F68D-D4D1-F130-29F6-229C782422A4}"/>
              </a:ext>
            </a:extLst>
          </p:cNvPr>
          <p:cNvSpPr/>
          <p:nvPr/>
        </p:nvSpPr>
        <p:spPr>
          <a:xfrm>
            <a:off x="1092200" y="5410200"/>
            <a:ext cx="457200" cy="457200"/>
          </a:xfrm>
          <a:prstGeom prst="ellipse">
            <a:avLst/>
          </a:prstGeom>
          <a:solidFill>
            <a:srgbClr val="2C5F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F86CAB-EFB2-6547-DDD2-7107480E3697}"/>
              </a:ext>
            </a:extLst>
          </p:cNvPr>
          <p:cNvSpPr txBox="1"/>
          <p:nvPr/>
        </p:nvSpPr>
        <p:spPr>
          <a:xfrm>
            <a:off x="1778000" y="5359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b="1">
                <a:solidFill>
                  <a:srgbClr val="2C5F2D"/>
                </a:solidFill>
                <a:latin typeface="Calibri" panose="020F0502020204030204" pitchFamily="34" charset="0"/>
              </a:rPr>
              <a:t>Poodle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E681F9-00F7-98C6-0FD6-C4913CE16A36}"/>
              </a:ext>
            </a:extLst>
          </p:cNvPr>
          <p:cNvSpPr txBox="1"/>
          <p:nvPr/>
        </p:nvSpPr>
        <p:spPr>
          <a:xfrm>
            <a:off x="1778000" y="5689600"/>
            <a:ext cx="939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5A5A5A"/>
                </a:solidFill>
                <a:latin typeface="Calibri" panose="020F0502020204030204" pitchFamily="34" charset="0"/>
              </a:rPr>
              <a:t>Highly intelligent, hypoallergenic, comes in three sizes.</a:t>
            </a:r>
            <a:endParaRPr lang="en-IN" sz="1300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739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48FD62-FD63-82EB-1259-580361A8E05D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2C5F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24FD7C-76E2-5FE8-6931-E1F93FF1B3D9}"/>
              </a:ext>
            </a:extLst>
          </p:cNvPr>
          <p:cNvSpPr txBox="1"/>
          <p:nvPr/>
        </p:nvSpPr>
        <p:spPr>
          <a:xfrm>
            <a:off x="762000" y="228600"/>
            <a:ext cx="1016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2800" b="1">
                <a:solidFill>
                  <a:srgbClr val="FFFFFF"/>
                </a:solidFill>
                <a:latin typeface="Calibri" panose="020F0502020204030204" pitchFamily="34" charset="0"/>
              </a:rPr>
              <a:t>Caring for Your Dog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CE77DA-BF0B-0419-837C-A89A0B963EDF}"/>
              </a:ext>
            </a:extLst>
          </p:cNvPr>
          <p:cNvSpPr/>
          <p:nvPr/>
        </p:nvSpPr>
        <p:spPr>
          <a:xfrm>
            <a:off x="762000" y="1397000"/>
            <a:ext cx="2540000" cy="4064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9CE4F-E4C5-9A71-A9C5-F98367E94718}"/>
              </a:ext>
            </a:extLst>
          </p:cNvPr>
          <p:cNvSpPr/>
          <p:nvPr/>
        </p:nvSpPr>
        <p:spPr>
          <a:xfrm>
            <a:off x="762000" y="1397000"/>
            <a:ext cx="2540000" cy="76200"/>
          </a:xfrm>
          <a:prstGeom prst="rect">
            <a:avLst/>
          </a:prstGeom>
          <a:solidFill>
            <a:srgbClr val="97BC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3C5466D-C39D-BFCA-9916-68285D337BA7}"/>
              </a:ext>
            </a:extLst>
          </p:cNvPr>
          <p:cNvSpPr/>
          <p:nvPr/>
        </p:nvSpPr>
        <p:spPr>
          <a:xfrm>
            <a:off x="1587500" y="1778000"/>
            <a:ext cx="889000" cy="889000"/>
          </a:xfrm>
          <a:prstGeom prst="ellipse">
            <a:avLst/>
          </a:prstGeom>
          <a:solidFill>
            <a:srgbClr val="2C5F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27CEDE-4BCB-4C3A-6DF1-198F0B2806C3}"/>
              </a:ext>
            </a:extLst>
          </p:cNvPr>
          <p:cNvSpPr txBox="1"/>
          <p:nvPr/>
        </p:nvSpPr>
        <p:spPr>
          <a:xfrm>
            <a:off x="965200" y="2921000"/>
            <a:ext cx="2133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2000" b="1">
                <a:solidFill>
                  <a:srgbClr val="2C5F2D"/>
                </a:solidFill>
                <a:latin typeface="Calibri" panose="020F0502020204030204" pitchFamily="34" charset="0"/>
              </a:rPr>
              <a:t>Nutrition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198DD1-3FE0-F4CC-189F-F5BF2E72E4FF}"/>
              </a:ext>
            </a:extLst>
          </p:cNvPr>
          <p:cNvSpPr txBox="1"/>
          <p:nvPr/>
        </p:nvSpPr>
        <p:spPr>
          <a:xfrm>
            <a:off x="1016000" y="3429000"/>
            <a:ext cx="2032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>
                <a:solidFill>
                  <a:srgbClr val="2B2B2B"/>
                </a:solidFill>
                <a:latin typeface="Calibri" panose="020F0502020204030204" pitchFamily="34" charset="0"/>
              </a:rPr>
              <a:t>Balanced diet appropriate for age, size, and activity level. Fresh water always.</a:t>
            </a:r>
            <a:endParaRPr lang="en-IN" sz="1300">
              <a:solidFill>
                <a:srgbClr val="2B2B2B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C9B2E0-124A-DD67-FF6A-A8E2D4388EBD}"/>
              </a:ext>
            </a:extLst>
          </p:cNvPr>
          <p:cNvSpPr/>
          <p:nvPr/>
        </p:nvSpPr>
        <p:spPr>
          <a:xfrm>
            <a:off x="3505200" y="1397000"/>
            <a:ext cx="2540000" cy="4064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B903FD-A54A-5459-6FEA-A009FD1916AA}"/>
              </a:ext>
            </a:extLst>
          </p:cNvPr>
          <p:cNvSpPr/>
          <p:nvPr/>
        </p:nvSpPr>
        <p:spPr>
          <a:xfrm>
            <a:off x="3505200" y="1397000"/>
            <a:ext cx="2540000" cy="76200"/>
          </a:xfrm>
          <a:prstGeom prst="rect">
            <a:avLst/>
          </a:prstGeom>
          <a:solidFill>
            <a:srgbClr val="97BC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2D4C250-110E-E55F-D766-49FD8673652A}"/>
              </a:ext>
            </a:extLst>
          </p:cNvPr>
          <p:cNvSpPr/>
          <p:nvPr/>
        </p:nvSpPr>
        <p:spPr>
          <a:xfrm>
            <a:off x="4330700" y="1778000"/>
            <a:ext cx="889000" cy="889000"/>
          </a:xfrm>
          <a:prstGeom prst="ellipse">
            <a:avLst/>
          </a:prstGeom>
          <a:solidFill>
            <a:srgbClr val="2C5F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B41865-007F-C205-9DC1-E74011DDE6FB}"/>
              </a:ext>
            </a:extLst>
          </p:cNvPr>
          <p:cNvSpPr txBox="1"/>
          <p:nvPr/>
        </p:nvSpPr>
        <p:spPr>
          <a:xfrm>
            <a:off x="3708400" y="2921000"/>
            <a:ext cx="2133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2000" b="1">
                <a:solidFill>
                  <a:srgbClr val="2C5F2D"/>
                </a:solidFill>
                <a:latin typeface="Calibri" panose="020F0502020204030204" pitchFamily="34" charset="0"/>
              </a:rPr>
              <a:t>Exercise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02B164-2E3B-D722-513D-E52817DF6052}"/>
              </a:ext>
            </a:extLst>
          </p:cNvPr>
          <p:cNvSpPr txBox="1"/>
          <p:nvPr/>
        </p:nvSpPr>
        <p:spPr>
          <a:xfrm>
            <a:off x="3759200" y="3429000"/>
            <a:ext cx="2032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>
                <a:solidFill>
                  <a:srgbClr val="2B2B2B"/>
                </a:solidFill>
                <a:latin typeface="Calibri" panose="020F0502020204030204" pitchFamily="34" charset="0"/>
              </a:rPr>
              <a:t>Daily walks and play. Working breeds need 1-2+ hours of vigorous activity.</a:t>
            </a:r>
            <a:endParaRPr lang="en-IN" sz="1300">
              <a:solidFill>
                <a:srgbClr val="2B2B2B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0766FB-3C7A-7466-33E7-ABB152FB5E9A}"/>
              </a:ext>
            </a:extLst>
          </p:cNvPr>
          <p:cNvSpPr/>
          <p:nvPr/>
        </p:nvSpPr>
        <p:spPr>
          <a:xfrm>
            <a:off x="6248400" y="1397000"/>
            <a:ext cx="2540000" cy="4064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EE1BFB-AFC6-6D25-7230-32F1C142BF3D}"/>
              </a:ext>
            </a:extLst>
          </p:cNvPr>
          <p:cNvSpPr/>
          <p:nvPr/>
        </p:nvSpPr>
        <p:spPr>
          <a:xfrm>
            <a:off x="6248400" y="1397000"/>
            <a:ext cx="2540000" cy="76200"/>
          </a:xfrm>
          <a:prstGeom prst="rect">
            <a:avLst/>
          </a:prstGeom>
          <a:solidFill>
            <a:srgbClr val="97BC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EED268C-5168-16C5-1941-A2C97A3AF8B0}"/>
              </a:ext>
            </a:extLst>
          </p:cNvPr>
          <p:cNvSpPr/>
          <p:nvPr/>
        </p:nvSpPr>
        <p:spPr>
          <a:xfrm>
            <a:off x="7073900" y="1778000"/>
            <a:ext cx="889000" cy="889000"/>
          </a:xfrm>
          <a:prstGeom prst="ellipse">
            <a:avLst/>
          </a:prstGeom>
          <a:solidFill>
            <a:srgbClr val="2C5F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CE751-4113-AA75-49C4-D3F349627BA6}"/>
              </a:ext>
            </a:extLst>
          </p:cNvPr>
          <p:cNvSpPr txBox="1"/>
          <p:nvPr/>
        </p:nvSpPr>
        <p:spPr>
          <a:xfrm>
            <a:off x="6451600" y="2921000"/>
            <a:ext cx="2133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2000" b="1">
                <a:solidFill>
                  <a:srgbClr val="2C5F2D"/>
                </a:solidFill>
                <a:latin typeface="Calibri" panose="020F0502020204030204" pitchFamily="34" charset="0"/>
              </a:rPr>
              <a:t>Health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5B99A4-0739-BF5D-6E2D-4C61B6C99A65}"/>
              </a:ext>
            </a:extLst>
          </p:cNvPr>
          <p:cNvSpPr txBox="1"/>
          <p:nvPr/>
        </p:nvSpPr>
        <p:spPr>
          <a:xfrm>
            <a:off x="6502400" y="3429000"/>
            <a:ext cx="2032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>
                <a:solidFill>
                  <a:srgbClr val="2B2B2B"/>
                </a:solidFill>
                <a:latin typeface="Calibri" panose="020F0502020204030204" pitchFamily="34" charset="0"/>
              </a:rPr>
              <a:t>Regular vet checkups, vaccinations, dental care, and parasite prevention.</a:t>
            </a:r>
            <a:endParaRPr lang="en-IN" sz="1300">
              <a:solidFill>
                <a:srgbClr val="2B2B2B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C4B818-15F7-7A52-32A6-5847F840AD09}"/>
              </a:ext>
            </a:extLst>
          </p:cNvPr>
          <p:cNvSpPr/>
          <p:nvPr/>
        </p:nvSpPr>
        <p:spPr>
          <a:xfrm>
            <a:off x="8991600" y="1397000"/>
            <a:ext cx="2540000" cy="4064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D839AF-D3F0-85DE-F067-14104D2DE06D}"/>
              </a:ext>
            </a:extLst>
          </p:cNvPr>
          <p:cNvSpPr/>
          <p:nvPr/>
        </p:nvSpPr>
        <p:spPr>
          <a:xfrm>
            <a:off x="8991600" y="1397000"/>
            <a:ext cx="2540000" cy="76200"/>
          </a:xfrm>
          <a:prstGeom prst="rect">
            <a:avLst/>
          </a:prstGeom>
          <a:solidFill>
            <a:srgbClr val="97BC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75899C4-5195-4A26-227C-A70B97BDEBF4}"/>
              </a:ext>
            </a:extLst>
          </p:cNvPr>
          <p:cNvSpPr/>
          <p:nvPr/>
        </p:nvSpPr>
        <p:spPr>
          <a:xfrm>
            <a:off x="9817100" y="1778000"/>
            <a:ext cx="889000" cy="889000"/>
          </a:xfrm>
          <a:prstGeom prst="ellipse">
            <a:avLst/>
          </a:prstGeom>
          <a:solidFill>
            <a:srgbClr val="2C5F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715870-88DC-BC55-75CA-B96382724D21}"/>
              </a:ext>
            </a:extLst>
          </p:cNvPr>
          <p:cNvSpPr txBox="1"/>
          <p:nvPr/>
        </p:nvSpPr>
        <p:spPr>
          <a:xfrm>
            <a:off x="9194800" y="2921000"/>
            <a:ext cx="2133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2000" b="1">
                <a:solidFill>
                  <a:srgbClr val="2C5F2D"/>
                </a:solidFill>
                <a:latin typeface="Calibri" panose="020F0502020204030204" pitchFamily="34" charset="0"/>
              </a:rPr>
              <a:t>Training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5C57ED-652D-E97B-D0B1-1FA15796043A}"/>
              </a:ext>
            </a:extLst>
          </p:cNvPr>
          <p:cNvSpPr txBox="1"/>
          <p:nvPr/>
        </p:nvSpPr>
        <p:spPr>
          <a:xfrm>
            <a:off x="9245600" y="3429000"/>
            <a:ext cx="2032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>
                <a:solidFill>
                  <a:srgbClr val="2B2B2B"/>
                </a:solidFill>
                <a:latin typeface="Calibri" panose="020F0502020204030204" pitchFamily="34" charset="0"/>
              </a:rPr>
              <a:t>Positive reinforcement, early socialization, and consistent boundaries.</a:t>
            </a:r>
            <a:endParaRPr lang="en-IN" sz="1300">
              <a:solidFill>
                <a:srgbClr val="2B2B2B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465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4B78D89-E1E1-4D29-7A82-C234694A61E3}"/>
              </a:ext>
            </a:extLst>
          </p:cNvPr>
          <p:cNvSpPr/>
          <p:nvPr/>
        </p:nvSpPr>
        <p:spPr>
          <a:xfrm>
            <a:off x="-1524000" y="4064000"/>
            <a:ext cx="4572000" cy="4572000"/>
          </a:xfrm>
          <a:prstGeom prst="ellipse">
            <a:avLst/>
          </a:prstGeom>
          <a:solidFill>
            <a:srgbClr val="97BC62">
              <a:alpha val="3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48BD5B-6460-47F0-7FE6-99C8BD92E7DE}"/>
              </a:ext>
            </a:extLst>
          </p:cNvPr>
          <p:cNvSpPr txBox="1"/>
          <p:nvPr/>
        </p:nvSpPr>
        <p:spPr>
          <a:xfrm>
            <a:off x="1016000" y="2286000"/>
            <a:ext cx="10160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4400" b="1">
                <a:solidFill>
                  <a:srgbClr val="FFFFFF"/>
                </a:solidFill>
                <a:latin typeface="Calibri" panose="020F0502020204030204" pitchFamily="34" charset="0"/>
              </a:rPr>
              <a:t>A lifelong companion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07C9CC-F4A4-6F95-C888-45EE628AA315}"/>
              </a:ext>
            </a:extLst>
          </p:cNvPr>
          <p:cNvSpPr/>
          <p:nvPr/>
        </p:nvSpPr>
        <p:spPr>
          <a:xfrm>
            <a:off x="1016000" y="3429000"/>
            <a:ext cx="1016000" cy="50800"/>
          </a:xfrm>
          <a:prstGeom prst="rect">
            <a:avLst/>
          </a:prstGeom>
          <a:solidFill>
            <a:srgbClr val="97BC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79F1D8-81E6-C641-10AD-A850DB382CF7}"/>
              </a:ext>
            </a:extLst>
          </p:cNvPr>
          <p:cNvSpPr txBox="1"/>
          <p:nvPr/>
        </p:nvSpPr>
        <p:spPr>
          <a:xfrm>
            <a:off x="1016000" y="3683000"/>
            <a:ext cx="1016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>
                <a:solidFill>
                  <a:srgbClr val="F5F5F5"/>
                </a:solidFill>
                <a:latin typeface="Calibri" panose="020F0502020204030204" pitchFamily="34" charset="0"/>
              </a:rPr>
              <a:t>Dogs ask for very little and return everything.</a:t>
            </a:r>
            <a:endParaRPr lang="en-IN" sz="2200">
              <a:solidFill>
                <a:srgbClr val="F5F5F5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0C4A1A-4022-E7FA-D64F-72098402063E}"/>
              </a:ext>
            </a:extLst>
          </p:cNvPr>
          <p:cNvSpPr txBox="1"/>
          <p:nvPr/>
        </p:nvSpPr>
        <p:spPr>
          <a:xfrm>
            <a:off x="1016000" y="6096000"/>
            <a:ext cx="1016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600">
                <a:solidFill>
                  <a:srgbClr val="97BC62"/>
                </a:solidFill>
                <a:latin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05654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</Words>
  <Application>Microsoft Office PowerPoint</Application>
  <PresentationFormat>Custom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Chandra V</dc:creator>
  <cp:lastModifiedBy>Chandra V</cp:lastModifiedBy>
  <cp:revision>1</cp:revision>
  <dcterms:created xsi:type="dcterms:W3CDTF">2026-04-09T17:06:19Z</dcterms:created>
  <dcterms:modified xsi:type="dcterms:W3CDTF">2026-04-09T17:06:19Z</dcterms:modified>
</cp:coreProperties>
</file>