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B0BEC5"/>
                </a:solidFill>
                <a:latin typeface="Calibri"/>
              </a:rPr>
              <a:t>ENGINEERING  ·  TECHNOLOGY  ·  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91440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Technical Presentation Title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5486400" cy="381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5661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0BEC5"/>
                </a:solidFill>
                <a:latin typeface="Calibri"/>
              </a:rPr>
              <a:t>Strategic Overview &amp;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864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0BEC5"/>
                </a:solidFill>
                <a:latin typeface="Calibri"/>
              </a:rPr>
              <a:t>Presenter Name  |  Role / Team
Date  |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74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11430000" cy="603504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27048"/>
            <a:ext cx="640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86C1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527048"/>
            <a:ext cx="10058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075688"/>
            <a:ext cx="11430000" cy="603504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85416"/>
            <a:ext cx="640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86C1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185416"/>
            <a:ext cx="10058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Problem Statement &amp; Scope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734056"/>
            <a:ext cx="11430000" cy="603504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843784"/>
            <a:ext cx="640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86C1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43784"/>
            <a:ext cx="10058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Technical Deep Dive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392424"/>
            <a:ext cx="11430000" cy="603504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3502152"/>
            <a:ext cx="640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86C1"/>
                </a:solidFill>
                <a:latin typeface="Calibr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502152"/>
            <a:ext cx="10058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Architecture / Design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4050792"/>
            <a:ext cx="11430000" cy="603504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160520"/>
            <a:ext cx="640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86C1"/>
                </a:solidFill>
                <a:latin typeface="Calibri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160520"/>
            <a:ext cx="10058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Metrics &amp; Results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4709160"/>
            <a:ext cx="11430000" cy="603504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818888"/>
            <a:ext cx="640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86C1"/>
                </a:solidFill>
                <a:latin typeface="Calibr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818888"/>
            <a:ext cx="10058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Risks &amp; Mitigations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5367528"/>
            <a:ext cx="11430000" cy="603504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5477256"/>
            <a:ext cx="6400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E86C1"/>
                </a:solidFill>
                <a:latin typeface="Calibri"/>
              </a:rPr>
              <a:t>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5477256"/>
            <a:ext cx="10058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Calibri"/>
              </a:rPr>
              <a:t>Recommendations &amp; Next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74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B0BEC5"/>
                </a:solidFill>
                <a:latin typeface="Calibri"/>
              </a:rPr>
              <a:t>Slide 3 of 9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356616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63040"/>
            <a:ext cx="3566160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86C1"/>
                </a:solidFill>
                <a:latin typeface="Calibri"/>
              </a:rPr>
              <a:t>OBJECTIVE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103120"/>
            <a:ext cx="3200400" cy="127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  <a:latin typeface="Calibri"/>
              </a:rPr>
              <a:t>State the business/technical goal clearly and concisely.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0" y="1463040"/>
            <a:ext cx="356616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0" y="1463040"/>
            <a:ext cx="3566160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600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86C1"/>
                </a:solidFill>
                <a:latin typeface="Calibri"/>
              </a:rPr>
              <a:t>APPROACH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103120"/>
            <a:ext cx="3200400" cy="127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0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  <a:latin typeface="Calibri"/>
              </a:rPr>
              <a:t>Describe the methodology or solution strategy chosen.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09560" y="1463040"/>
            <a:ext cx="3566160" cy="4114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09560" y="1463040"/>
            <a:ext cx="3566160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92440" y="16002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86C1"/>
                </a:solidFill>
                <a:latin typeface="Calibri"/>
              </a:rPr>
              <a:t>OUTCOME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2440" y="2103120"/>
            <a:ext cx="3200400" cy="127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2440" y="2194560"/>
            <a:ext cx="320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  <a:latin typeface="Calibri"/>
              </a:rPr>
              <a:t>Summarise the expected or achieved result with impact.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576072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1B3A5C"/>
                </a:solidFill>
                <a:latin typeface="Calibri"/>
              </a:rPr>
              <a:t>Key Takeaway: Replace with one crisp sentence the leadership must remember.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74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PROBLEM STATEMENT &amp;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B0BEC5"/>
                </a:solidFill>
                <a:latin typeface="Calibri"/>
              </a:rPr>
              <a:t>Slide 4 of 9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548640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63040"/>
            <a:ext cx="5486400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  <a:latin typeface="Calibri"/>
              </a:rPr>
              <a:t>The Challenge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  <a:latin typeface="Calibri"/>
              </a:rPr>
              <a:t>• Describe the root cause of the problem
• Quantify the business impact (cost, time, quality)
• Explain why this must be solved now
• Identify affected stakeholders / systems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463040"/>
            <a:ext cx="548640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463040"/>
            <a:ext cx="5486400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  <a:latin typeface="Calibri"/>
              </a:rPr>
              <a:t>Scope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19456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  <a:latin typeface="Calibri"/>
              </a:rPr>
              <a:t>In Scope
  ✓  System A — module X
  ✓  Integration with System B
  ✓  Phase 1 deployment region
Out of Scope
  ✗  Legacy system migration
  ✗  Third-party SLA changes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74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TECHNICAL DEEP DIVE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B0BEC5"/>
                </a:solidFill>
                <a:latin typeface="Calibri"/>
              </a:rPr>
              <a:t>Slide 5 of 9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530352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63040"/>
            <a:ext cx="5303520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  <a:latin typeface="Calibri"/>
              </a:rPr>
              <a:t>Key Technical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49377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C3E50"/>
                </a:solidFill>
                <a:latin typeface="Calibri"/>
              </a:rPr>
              <a:t>• Component / layer description
• Technology choices &amp; rationale
• Data flow / processing logic
• Performance characteristics
• Security &amp; compliance considerations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1463040"/>
            <a:ext cx="598932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852160" y="1463040"/>
            <a:ext cx="5989320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40" y="3474720"/>
            <a:ext cx="5577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BEC5"/>
                </a:solidFill>
                <a:latin typeface="Calibri"/>
              </a:rPr>
              <a:t>[ Insert Architecture / Flow Diagram 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74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METRICS &amp;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B0BEC5"/>
                </a:solidFill>
                <a:latin typeface="Calibri"/>
              </a:rPr>
              <a:t>Slide 6 of 9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54480"/>
            <a:ext cx="2651760" cy="20116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87452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E86C1"/>
                </a:solidFill>
                <a:latin typeface="Calibri"/>
              </a:rPr>
              <a:t>99.95 %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BEC5"/>
                </a:solidFill>
                <a:latin typeface="Calibri"/>
              </a:rPr>
              <a:t>Availability SLA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554480"/>
            <a:ext cx="2651760" cy="20116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0" y="187452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E86C1"/>
                </a:solidFill>
                <a:latin typeface="Calibri"/>
              </a:rPr>
              <a:t>&lt; 200 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BEC5"/>
                </a:solidFill>
                <a:latin typeface="Calibri"/>
              </a:rPr>
              <a:t>p99 Latency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80760" y="1554480"/>
            <a:ext cx="2651760" cy="20116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187452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E86C1"/>
                </a:solidFill>
                <a:latin typeface="Calibri"/>
              </a:rPr>
              <a:t>40 %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BEC5"/>
                </a:solidFill>
                <a:latin typeface="Calibri"/>
              </a:rPr>
              <a:t>Cost Reduction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61120" y="1554480"/>
            <a:ext cx="2651760" cy="20116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187452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2E86C1"/>
                </a:solidFill>
                <a:latin typeface="Calibri"/>
              </a:rPr>
              <a:t>3×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1120" y="26974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B0BEC5"/>
                </a:solidFill>
                <a:latin typeface="Calibri"/>
              </a:rPr>
              <a:t>Throughput Gain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749039"/>
            <a:ext cx="11475720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20040" y="3749039"/>
            <a:ext cx="11475720" cy="6400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4754880"/>
            <a:ext cx="11475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B0BEC5"/>
                </a:solidFill>
                <a:latin typeface="Calibri"/>
              </a:rPr>
              <a:t>[ Insert Chart / Graph — Trend or Comparison 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743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RISKS &amp; MITIGATIONS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B0BEC5"/>
                </a:solidFill>
                <a:latin typeface="Calibri"/>
              </a:rPr>
              <a:t>Slide 7 of 9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11475720" cy="4114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Risk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463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Likelihood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66360" y="14630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463040"/>
            <a:ext cx="5257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Mitigation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1828800"/>
            <a:ext cx="114757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938528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Vendor API deprecation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03320" y="2011680"/>
            <a:ext cx="1005840" cy="502920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2029968"/>
            <a:ext cx="1005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66360" y="2011680"/>
            <a:ext cx="1005840" cy="502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66360" y="2029968"/>
            <a:ext cx="1005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29400" y="1938528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Maintain abstraction layer; evaluate alternatives Q3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834640"/>
            <a:ext cx="11475720" cy="96012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944368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Data pipeline latency spike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03320" y="3017520"/>
            <a:ext cx="1005840" cy="502920"/>
          </a:xfrm>
          <a:prstGeom prst="rect">
            <a:avLst/>
          </a:prstGeom>
          <a:solidFill>
            <a:srgbClr val="277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3320" y="3035808"/>
            <a:ext cx="1005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66360" y="3017520"/>
            <a:ext cx="1005840" cy="502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6360" y="3035808"/>
            <a:ext cx="1005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2944368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Circuit breaker + retry logic already implemented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840480"/>
            <a:ext cx="11475720" cy="960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3950208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Team capacity during ramp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03320" y="4023360"/>
            <a:ext cx="1005840" cy="502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03320" y="4041648"/>
            <a:ext cx="1005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66360" y="4023360"/>
            <a:ext cx="1005840" cy="502920"/>
          </a:xfrm>
          <a:prstGeom prst="rect">
            <a:avLst/>
          </a:prstGeom>
          <a:solidFill>
            <a:srgbClr val="D354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166360" y="4041648"/>
            <a:ext cx="1005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Medium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950208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Backfill via contractor; cross-train 2 engineers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4846320"/>
            <a:ext cx="11475720" cy="960120"/>
          </a:xfrm>
          <a:prstGeom prst="rect">
            <a:avLst/>
          </a:prstGeom>
          <a:solidFill>
            <a:srgbClr val="F2F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956048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Regulatory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3320" y="5029200"/>
            <a:ext cx="1005840" cy="502920"/>
          </a:xfrm>
          <a:prstGeom prst="rect">
            <a:avLst/>
          </a:prstGeom>
          <a:solidFill>
            <a:srgbClr val="277A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03320" y="5047488"/>
            <a:ext cx="1005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66360" y="5029200"/>
            <a:ext cx="1005840" cy="50292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166360" y="5047488"/>
            <a:ext cx="1005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High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4956048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Monthly compliance review; legal sign-off on design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8EC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274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RECOMMENDATIONS &amp;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B0BEC5"/>
                </a:solidFill>
                <a:latin typeface="Calibri"/>
              </a:rPr>
              <a:t>Slide 8 of 9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463040"/>
            <a:ext cx="530352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63040"/>
            <a:ext cx="5303520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  <a:latin typeface="Calibri"/>
              </a:rPr>
              <a:t>Recommendations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194560"/>
            <a:ext cx="502920" cy="5029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19456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Approve Phase 1 rollout to production — low risk, high ROI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74720"/>
            <a:ext cx="502920" cy="5029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52044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47472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Allocate budget for observability tooling upgrade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754880"/>
            <a:ext cx="502920" cy="50292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80060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754880"/>
            <a:ext cx="4297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C3E50"/>
                </a:solidFill>
                <a:latin typeface="Calibri"/>
              </a:rPr>
              <a:t>Initiate vendor renegotiation for Q3 contract renewal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52160" y="1463040"/>
            <a:ext cx="5989320" cy="5029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852160" y="1463040"/>
            <a:ext cx="5989320" cy="73152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5040" y="16002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D1B2A"/>
                </a:solidFill>
                <a:latin typeface="Calibri"/>
              </a:rPr>
              <a:t>Delivery Timeline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89320" y="2103120"/>
            <a:ext cx="1463040" cy="6400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89320" y="2194560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E86C1"/>
                </a:solidFill>
                <a:latin typeface="Calibri"/>
              </a:rPr>
              <a:t>Week 1–2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43800" y="2423160"/>
            <a:ext cx="182880" cy="25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18120" y="210312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Finalise architecture sign-off &amp; environment setup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9320" y="2980944"/>
            <a:ext cx="1463040" cy="6400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89320" y="3072384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E86C1"/>
                </a:solidFill>
                <a:latin typeface="Calibri"/>
              </a:rPr>
              <a:t>Week 3–6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43800" y="3300984"/>
            <a:ext cx="182880" cy="25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18120" y="2980944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Development &amp; unit testing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89320" y="3858768"/>
            <a:ext cx="1463040" cy="6400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89320" y="3950208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E86C1"/>
                </a:solidFill>
                <a:latin typeface="Calibri"/>
              </a:rPr>
              <a:t>Week 7–8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43800" y="4178808"/>
            <a:ext cx="182880" cy="25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18120" y="3858768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Integration testing &amp; staging deployment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89320" y="4736592"/>
            <a:ext cx="1463040" cy="6400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989320" y="4828032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E86C1"/>
                </a:solidFill>
                <a:latin typeface="Calibri"/>
              </a:rPr>
              <a:t>Week 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543800" y="5056632"/>
            <a:ext cx="182880" cy="25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18120" y="4736592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Production rollout — phased (10 % → 50 % → 100 %)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89320" y="5614416"/>
            <a:ext cx="1463040" cy="64008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89320" y="5705856"/>
            <a:ext cx="1463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2E86C1"/>
                </a:solidFill>
                <a:latin typeface="Calibri"/>
              </a:rPr>
              <a:t>Week 10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543800" y="5934456"/>
            <a:ext cx="182880" cy="25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818120" y="5614416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C3E50"/>
                </a:solidFill>
                <a:latin typeface="Calibri"/>
              </a:rPr>
              <a:t>Hypercare &amp; KPI review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0" y="3383280"/>
            <a:ext cx="4846320" cy="25400"/>
          </a:xfrm>
          <a:prstGeom prst="rect">
            <a:avLst/>
          </a:prstGeom>
          <a:solidFill>
            <a:srgbClr val="2E86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5661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B0BEC5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B0BEC5"/>
                </a:solidFill>
                <a:latin typeface="Calibri"/>
              </a:rPr>
              <a:t>presenter@company.com   ·   +1 (555) 000-0000   ·   Team / Channel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BEC5"/>
                </a:solidFill>
                <a:latin typeface="Calibri"/>
              </a:rPr>
              <a:t>CONFIDENTIAL — FOR INTERNAL USE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